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jpg" ContentType="image/jpe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70de698a0ab45de" /><Relationship Type="http://schemas.openxmlformats.org/package/2006/relationships/metadata/core-properties" Target="/docProps/core.xml" Id="Refa6ee2c9aa34fe5" /><Relationship Type="http://schemas.openxmlformats.org/officeDocument/2006/relationships/extended-properties" Target="/docProps/app.xml" Id="R71b9c7ac17d040ee" /><Relationship Type="http://schemas.openxmlformats.org/officeDocument/2006/relationships/custom-properties" Target="/docProps/custom.xml" Id="Rad7d3984f94a4ef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b71ba3618544d11"/>
    <p:sldId id="257" r:id="R720fb42e9ec14a3a"/>
    <p:sldId id="258" r:id="R7f82772e6b834dda"/>
    <p:sldId id="259" r:id="R92184d5606da4df6"/>
    <p:sldId id="260" r:id="R186264d0c4914a65"/>
    <p:sldId id="261" r:id="R33457cc0510e4a5b"/>
    <p:sldId id="262" r:id="Rae46fb93f9944d99"/>
    <p:sldId id="263" r:id="Ra31792d88d2f4dca"/>
    <p:sldId id="264" r:id="R2c6a22449eed4413"/>
    <p:sldId id="265" r:id="R8ffa2fab610f41a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b71ba3618544d11" /><Relationship Type="http://schemas.openxmlformats.org/officeDocument/2006/relationships/slide" Target="/ppt/slides/slide2.xml" Id="R720fb42e9ec14a3a" /><Relationship Type="http://schemas.openxmlformats.org/officeDocument/2006/relationships/slide" Target="/ppt/slides/slide3.xml" Id="R7f82772e6b834dda" /><Relationship Type="http://schemas.openxmlformats.org/officeDocument/2006/relationships/slide" Target="/ppt/slides/slide4.xml" Id="R92184d5606da4df6" /><Relationship Type="http://schemas.openxmlformats.org/officeDocument/2006/relationships/slide" Target="/ppt/slides/slide5.xml" Id="R186264d0c4914a65" /><Relationship Type="http://schemas.openxmlformats.org/officeDocument/2006/relationships/slide" Target="/ppt/slides/slide6.xml" Id="R33457cc0510e4a5b" /><Relationship Type="http://schemas.openxmlformats.org/officeDocument/2006/relationships/slide" Target="/ppt/slides/slide7.xml" Id="Rae46fb93f9944d99" /><Relationship Type="http://schemas.openxmlformats.org/officeDocument/2006/relationships/slide" Target="/ppt/slides/slide8.xml" Id="Ra31792d88d2f4dca" /><Relationship Type="http://schemas.openxmlformats.org/officeDocument/2006/relationships/slide" Target="/ppt/slides/slide9.xml" Id="R2c6a22449eed4413" /><Relationship Type="http://schemas.openxmlformats.org/officeDocument/2006/relationships/slide" Target="/ppt/slides/slide10.xml" Id="R8ffa2fab610f41a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df9b6b8d641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32b2ea08c4c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c9ec3636345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d7f67e4d446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fa45c68004d6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64c813434594b4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2896ef2f34171" /><Relationship Type="http://schemas.openxmlformats.org/officeDocument/2006/relationships/image" Target="/ppt/media/image.jpg" Id="Rb3ee8cd2bdd843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f68b9a234d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1190f907148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47404cb6249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2e2bc95c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efb16b3254d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be559adf74fbb" /><Relationship Type="http://schemas.openxmlformats.org/officeDocument/2006/relationships/image" Target="/ppt/media/image2.jpg" Id="Ree36a251ff4c4886" /><Relationship Type="http://schemas.openxmlformats.org/officeDocument/2006/relationships/image" Target="/ppt/media/image3.jpg" Id="Rae4ee304787049bd" /><Relationship Type="http://schemas.openxmlformats.org/officeDocument/2006/relationships/image" Target="/ppt/media/image4.jpg" Id="Raabc80e0863e4b0d" /><Relationship Type="http://schemas.openxmlformats.org/officeDocument/2006/relationships/image" Target="/ppt/media/image5.jpg" Id="Rdfc5128eba3647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7ad2fcd5e43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a10698f7f41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993efceb84b0d" /></Relationships>
</file>

<file path=ppt/slides/slide1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440000"/>
            <a:ext cx="1080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AI-Powered Digital Marketing Specialist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324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>
                <a:solidFill>
                  <a:srgbClr val="F5A623"/>
                </a:solidFill>
              </a:rPr>
              <a:t>JPK NOSS Course Proposal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414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ACCDD"/>
                </a:solidFill>
              </a:rPr>
              <a:t>3U Pioneer Academy   |   July 2026</a:t>
            </a:r>
          </a:p>
        </p:txBody>
      </p:sp>
      <p:sp>
        <p:nvSpPr>
          <p:cNvPr id="100103" name="TextBox 4"/>
          <p:cNvSpPr txBox="1"/>
          <p:nvPr/>
        </p:nvSpPr>
        <p:spPr>
          <a:xfrm>
            <a:off x="0" y="6408000"/>
            <a:ext cx="12240000" cy="216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/>
        </p:txBody>
      </p:sp>
      <p:pic>
        <p:nvPicPr>
          <p:cNvPr id="100109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b3ee8cd2bdd84367"/>
          <a:stretch>
            <a:fillRect/>
          </a:stretch>
        </p:blipFill>
        <p:spPr>
          <a:xfrm>
            <a:off x="8820000" y="180000"/>
            <a:ext cx="2880000" cy="2520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Malaysia's Digital Marketing Skills Gap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1008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720000" y="1296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4.8 million SMEs in Malaysia — fewer than 20% run structured digital campaigns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720000" y="1800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AI cuts content creation time by 70% — but only with proper, structured training</a:t>
            </a:r>
          </a:p>
        </p:txBody>
      </p:sp>
      <p:sp>
        <p:nvSpPr>
          <p:cNvPr id="100007" name="TextBox 5"/>
          <p:cNvSpPr txBox="1"/>
          <p:nvPr/>
        </p:nvSpPr>
        <p:spPr>
          <a:xfrm xmlns:a="http://schemas.openxmlformats.org/drawingml/2006/main">
            <a:off x="720000" y="2304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HRDC-claimable AI courses are in high demand and oversubscribed nationwide</a:t>
            </a:r>
          </a:p>
        </p:txBody>
      </p:sp>
      <p:sp>
        <p:nvSpPr>
          <p:cNvPr id="100008" name="TextBox 6"/>
          <p:cNvSpPr txBox="1"/>
          <p:nvPr/>
        </p:nvSpPr>
        <p:spPr>
          <a:xfrm xmlns:a="http://schemas.openxmlformats.org/drawingml/2006/main">
            <a:off x="720000" y="2808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3U students in F&amp;B, Aesthetic &amp; IT need digital marketing to boost career outcomes</a:t>
            </a:r>
          </a:p>
        </p:txBody>
      </p:sp>
      <p:sp>
        <p:nvSpPr>
          <p:cNvPr id="100009" name="TextBox 7"/>
          <p:cNvSpPr txBox="1"/>
          <p:nvPr/>
        </p:nvSpPr>
        <p:spPr>
          <a:xfrm xmlns:a="http://schemas.openxmlformats.org/drawingml/2006/main">
            <a:off x="720000" y="3312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B2B opportunity: Companies like Fitson actively seeking workforce upskilling</a:t>
            </a:r>
          </a:p>
        </p:txBody>
      </p:sp>
      <p:sp>
        <p:nvSpPr>
          <p:cNvPr id="100104" name="TextBox 8"/>
          <p:cNvSpPr txBox="1"/>
          <p:nvPr/>
        </p:nvSpPr>
        <p:spPr>
          <a:xfrm>
            <a:off x="360000" y="4140000"/>
            <a:ext cx="10800000" cy="720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F5A623"/>
                </a:solidFill>
              </a:rPr>
              <a:t>REAL RESULT: Pelangi Capsule Hostel achieved 4.9 stars / 5 across Google, Booking.com and Hostelworld — powered by AI content strategy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Course at a Glance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360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Level 3</a:t>
            </a:r>
          </a:p>
        </p:txBody>
      </p:sp>
      <p:sp>
        <p:nvSpPr>
          <p:cNvPr id="100012" name="TextBox 3"/>
          <p:cNvSpPr txBox="1"/>
          <p:nvPr/>
        </p:nvSpPr>
        <p:spPr>
          <a:xfrm xmlns:a="http://schemas.openxmlformats.org/drawingml/2006/main">
            <a:off x="360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NOSS Level</a:t>
            </a:r>
          </a:p>
        </p:txBody>
      </p:sp>
      <p:sp>
        <p:nvSpPr>
          <p:cNvPr id="100013" name="TextBox 4"/>
          <p:cNvSpPr txBox="1"/>
          <p:nvPr/>
        </p:nvSpPr>
        <p:spPr>
          <a:xfrm xmlns:a="http://schemas.openxmlformats.org/drawingml/2006/main">
            <a:off x="3132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RM 8,000</a:t>
            </a:r>
          </a:p>
        </p:txBody>
      </p:sp>
      <p:sp>
        <p:nvSpPr>
          <p:cNvPr id="100014" name="TextBox 5"/>
          <p:cNvSpPr txBox="1"/>
          <p:nvPr/>
        </p:nvSpPr>
        <p:spPr>
          <a:xfrm xmlns:a="http://schemas.openxmlformats.org/drawingml/2006/main">
            <a:off x="3132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Course Fee</a:t>
            </a:r>
          </a:p>
        </p:txBody>
      </p:sp>
      <p:sp>
        <p:nvSpPr>
          <p:cNvPr id="100015" name="TextBox 6"/>
          <p:cNvSpPr txBox="1"/>
          <p:nvPr/>
        </p:nvSpPr>
        <p:spPr>
          <a:xfrm xmlns:a="http://schemas.openxmlformats.org/drawingml/2006/main">
            <a:off x="5904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~600 Hours</a:t>
            </a:r>
          </a:p>
        </p:txBody>
      </p:sp>
      <p:sp>
        <p:nvSpPr>
          <p:cNvPr id="100016" name="TextBox 7"/>
          <p:cNvSpPr txBox="1"/>
          <p:nvPr/>
        </p:nvSpPr>
        <p:spPr>
          <a:xfrm xmlns:a="http://schemas.openxmlformats.org/drawingml/2006/main">
            <a:off x="5904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Total Duration</a:t>
            </a:r>
          </a:p>
        </p:txBody>
      </p:sp>
      <p:sp>
        <p:nvSpPr>
          <p:cNvPr id="100017" name="TextBox 8"/>
          <p:cNvSpPr txBox="1"/>
          <p:nvPr/>
        </p:nvSpPr>
        <p:spPr>
          <a:xfrm xmlns:a="http://schemas.openxmlformats.org/drawingml/2006/main">
            <a:off x="8676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9 CUs</a:t>
            </a:r>
          </a:p>
        </p:txBody>
      </p:sp>
      <p:sp>
        <p:nvSpPr>
          <p:cNvPr id="100018" name="TextBox 9"/>
          <p:cNvSpPr txBox="1"/>
          <p:nvPr/>
        </p:nvSpPr>
        <p:spPr>
          <a:xfrm xmlns:a="http://schemas.openxmlformats.org/drawingml/2006/main">
            <a:off x="8676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Competency Units</a:t>
            </a:r>
          </a:p>
        </p:txBody>
      </p:sp>
      <p:sp>
        <p:nvSpPr>
          <p:cNvPr id="100019" name="TextBox 10"/>
          <p:cNvSpPr txBox="1"/>
          <p:nvPr/>
        </p:nvSpPr>
        <p:spPr>
          <a:xfrm xmlns:a="http://schemas.openxmlformats.org/drawingml/2006/main">
            <a:off x="540000" y="432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5A623"/>
                </a:solidFill>
              </a:rPr>
              <a:t>30% Theory  |  70% Practical  |  HRDC / PSMB Claimable</a:t>
            </a:r>
          </a:p>
        </p:txBody>
      </p:sp>
      <p:sp>
        <p:nvSpPr>
          <p:cNvPr id="100105" name="TextBox 11"/>
          <p:cNvSpPr txBox="1"/>
          <p:nvPr/>
        </p:nvSpPr>
        <p:spPr>
          <a:xfrm>
            <a:off x="360000" y="5040000"/>
            <a:ext cx="1440000" cy="540000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HRDC</a:t>
            </a:r>
          </a:p>
        </p:txBody>
      </p:sp>
      <p:sp>
        <p:nvSpPr>
          <p:cNvPr id="100106" name="TextBox 12"/>
          <p:cNvSpPr txBox="1"/>
          <p:nvPr/>
        </p:nvSpPr>
        <p:spPr>
          <a:xfrm>
            <a:off x="360000" y="5652000"/>
            <a:ext cx="144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AACCDD"/>
                </a:solidFill>
              </a:rPr>
              <a:t>Claimable</a:t>
            </a:r>
          </a:p>
        </p:txBody>
      </p:sp>
      <p:sp>
        <p:nvSpPr>
          <p:cNvPr id="100107" name="TextBox 13"/>
          <p:cNvSpPr txBox="1"/>
          <p:nvPr/>
        </p:nvSpPr>
        <p:spPr>
          <a:xfrm>
            <a:off x="2160000" y="5040000"/>
            <a:ext cx="1440000" cy="540000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PSMB</a:t>
            </a:r>
          </a:p>
        </p:txBody>
      </p:sp>
      <p:sp>
        <p:nvSpPr>
          <p:cNvPr id="100108" name="TextBox 14"/>
          <p:cNvSpPr txBox="1"/>
          <p:nvPr/>
        </p:nvSpPr>
        <p:spPr>
          <a:xfrm>
            <a:off x="2160000" y="5652000"/>
            <a:ext cx="144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AACCDD"/>
                </a:solidFill>
              </a:rPr>
              <a:t>Claimable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Who Is This Course For?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40000" y="1008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360000" y="12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SME Owners &amp; Managers</a:t>
            </a:r>
          </a:p>
        </p:txBody>
      </p:sp>
      <p:sp>
        <p:nvSpPr>
          <p:cNvPr id="100023" name="TextBox 4"/>
          <p:cNvSpPr txBox="1"/>
          <p:nvPr/>
        </p:nvSpPr>
        <p:spPr>
          <a:xfrm xmlns:a="http://schemas.openxmlformats.org/drawingml/2006/main">
            <a:off x="360000" y="18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Want to run digital campaigns with AI tools — no coding required.</a:t>
            </a:r>
          </a:p>
        </p:txBody>
      </p:sp>
      <p:sp>
        <p:nvSpPr>
          <p:cNvPr id="100024" name="TextBox 5"/>
          <p:cNvSpPr txBox="1"/>
          <p:nvPr/>
        </p:nvSpPr>
        <p:spPr>
          <a:xfrm xmlns:a="http://schemas.openxmlformats.org/drawingml/2006/main">
            <a:off x="5940000" y="12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Marketing &amp; Content Staff</a:t>
            </a:r>
          </a:p>
        </p:txBody>
      </p:sp>
      <p:sp>
        <p:nvSpPr>
          <p:cNvPr id="100025" name="TextBox 6"/>
          <p:cNvSpPr txBox="1"/>
          <p:nvPr/>
        </p:nvSpPr>
        <p:spPr>
          <a:xfrm xmlns:a="http://schemas.openxmlformats.org/drawingml/2006/main">
            <a:off x="5940000" y="18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Create social posts, run ads, engage customers using AI assistance.</a:t>
            </a:r>
          </a:p>
        </p:txBody>
      </p:sp>
      <p:sp>
        <p:nvSpPr>
          <p:cNvPr id="100026" name="TextBox 7"/>
          <p:cNvSpPr txBox="1"/>
          <p:nvPr/>
        </p:nvSpPr>
        <p:spPr>
          <a:xfrm xmlns:a="http://schemas.openxmlformats.org/drawingml/2006/main">
            <a:off x="360000" y="30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F&amp;B, Aesthetic &amp; Hospitality</a:t>
            </a:r>
          </a:p>
        </p:txBody>
      </p:sp>
      <p:sp>
        <p:nvSpPr>
          <p:cNvPr id="100027" name="TextBox 8"/>
          <p:cNvSpPr txBox="1"/>
          <p:nvPr/>
        </p:nvSpPr>
        <p:spPr>
          <a:xfrm xmlns:a="http://schemas.openxmlformats.org/drawingml/2006/main">
            <a:off x="360000" y="36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Existing 3U students adding digital marketing to their professional toolkit.</a:t>
            </a:r>
          </a:p>
        </p:txBody>
      </p:sp>
      <p:sp>
        <p:nvSpPr>
          <p:cNvPr id="100028" name="TextBox 9"/>
          <p:cNvSpPr txBox="1"/>
          <p:nvPr/>
        </p:nvSpPr>
        <p:spPr>
          <a:xfrm xmlns:a="http://schemas.openxmlformats.org/drawingml/2006/main">
            <a:off x="5940000" y="30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Entrepreneurs &amp; Freelancers</a:t>
            </a:r>
          </a:p>
        </p:txBody>
      </p:sp>
      <p:sp>
        <p:nvSpPr>
          <p:cNvPr id="100029" name="TextBox 10"/>
          <p:cNvSpPr txBox="1"/>
          <p:nvPr/>
        </p:nvSpPr>
        <p:spPr>
          <a:xfrm xmlns:a="http://schemas.openxmlformats.org/drawingml/2006/main">
            <a:off x="5940000" y="36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Building a personal brand or client services business online.</a:t>
            </a:r>
          </a:p>
        </p:txBody>
      </p:sp>
      <p:sp>
        <p:nvSpPr>
          <p:cNvPr id="100117" name="TextBox 11"/>
          <p:cNvSpPr txBox="1"/>
          <p:nvPr/>
        </p:nvSpPr>
        <p:spPr>
          <a:xfrm>
            <a:off x="4860000" y="1260000"/>
            <a:ext cx="540000" cy="4320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rgbClr val="F5A623"/>
                </a:solidFill>
              </a:rPr>
              <a:t>★</a:t>
            </a:r>
          </a:p>
        </p:txBody>
      </p:sp>
      <p:sp>
        <p:nvSpPr>
          <p:cNvPr id="100118" name="TextBox 12"/>
          <p:cNvSpPr txBox="1"/>
          <p:nvPr/>
        </p:nvSpPr>
        <p:spPr>
          <a:xfrm>
            <a:off x="10620000" y="1260000"/>
            <a:ext cx="540000" cy="4320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rgbClr val="2980B9"/>
                </a:solidFill>
              </a:rPr>
              <a:t>★</a:t>
            </a:r>
          </a:p>
        </p:txBody>
      </p:sp>
      <p:sp>
        <p:nvSpPr>
          <p:cNvPr id="100119" name="TextBox 13"/>
          <p:cNvSpPr txBox="1"/>
          <p:nvPr/>
        </p:nvSpPr>
        <p:spPr>
          <a:xfrm>
            <a:off x="4860000" y="3060000"/>
            <a:ext cx="540000" cy="4320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rgbClr val="27AE60"/>
                </a:solidFill>
              </a:rPr>
              <a:t>★</a:t>
            </a:r>
          </a:p>
        </p:txBody>
      </p:sp>
      <p:sp>
        <p:nvSpPr>
          <p:cNvPr id="100120" name="TextBox 14"/>
          <p:cNvSpPr txBox="1"/>
          <p:nvPr/>
        </p:nvSpPr>
        <p:spPr>
          <a:xfrm>
            <a:off x="10620000" y="3060000"/>
            <a:ext cx="540000" cy="4320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rgbClr val="8E44AD"/>
                </a:solidFill>
              </a:rPr>
              <a:t>★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E3A5F"/>
                </a:solidFill>
              </a:rPr>
              <a:t>Course Curriculum — 9 Competency Units</a:t>
            </a:r>
          </a:p>
        </p:txBody>
      </p:sp>
      <p:sp>
        <p:nvSpPr>
          <p:cNvPr id="100031" name="TextBox 2"/>
          <p:cNvSpPr txBox="1"/>
          <p:nvPr/>
        </p:nvSpPr>
        <p:spPr>
          <a:xfrm xmlns:a="http://schemas.openxmlformats.org/drawingml/2006/main">
            <a:off x="540000" y="972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32" name="TextBox 3"/>
          <p:cNvSpPr txBox="1"/>
          <p:nvPr/>
        </p:nvSpPr>
        <p:spPr>
          <a:xfrm xmlns:a="http://schemas.openxmlformats.org/drawingml/2006/main">
            <a:off x="360000" y="1188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5A623"/>
                </a:solidFill>
              </a:rPr>
              <a:t>CORE UNITS</a:t>
            </a:r>
          </a:p>
        </p:txBody>
      </p:sp>
      <p:sp>
        <p:nvSpPr>
          <p:cNvPr id="100033" name="TextBox 4"/>
          <p:cNvSpPr txBox="1"/>
          <p:nvPr/>
        </p:nvSpPr>
        <p:spPr>
          <a:xfrm xmlns:a="http://schemas.openxmlformats.org/drawingml/2006/main">
            <a:off x="360000" y="151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C01  Plan Digital Marketing Strategy with AI</a:t>
            </a:r>
          </a:p>
        </p:txBody>
      </p:sp>
      <p:sp>
        <p:nvSpPr>
          <p:cNvPr id="100034" name="TextBox 5"/>
          <p:cNvSpPr txBox="1"/>
          <p:nvPr/>
        </p:nvSpPr>
        <p:spPr>
          <a:xfrm xmlns:a="http://schemas.openxmlformats.org/drawingml/2006/main">
            <a:off x="360000" y="1872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C02  Create AI-Assisted Written Content</a:t>
            </a:r>
          </a:p>
        </p:txBody>
      </p:sp>
      <p:sp>
        <p:nvSpPr>
          <p:cNvPr id="100035" name="TextBox 6"/>
          <p:cNvSpPr txBox="1"/>
          <p:nvPr/>
        </p:nvSpPr>
        <p:spPr>
          <a:xfrm xmlns:a="http://schemas.openxmlformats.org/drawingml/2006/main">
            <a:off x="360000" y="223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C03  Generate AI Visual &amp; Graphic Content</a:t>
            </a:r>
          </a:p>
        </p:txBody>
      </p:sp>
      <p:sp>
        <p:nvSpPr>
          <p:cNvPr id="100036" name="TextBox 7"/>
          <p:cNvSpPr txBox="1"/>
          <p:nvPr/>
        </p:nvSpPr>
        <p:spPr>
          <a:xfrm xmlns:a="http://schemas.openxmlformats.org/drawingml/2006/main">
            <a:off x="360000" y="2592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C04  Produce AI-Assisted Video &amp; Audio Content</a:t>
            </a:r>
          </a:p>
        </p:txBody>
      </p:sp>
      <p:sp>
        <p:nvSpPr>
          <p:cNvPr id="100037" name="TextBox 8"/>
          <p:cNvSpPr txBox="1"/>
          <p:nvPr/>
        </p:nvSpPr>
        <p:spPr>
          <a:xfrm xmlns:a="http://schemas.openxmlformats.org/drawingml/2006/main">
            <a:off x="360000" y="295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C05  Build AI-Enhanced Digital Presence</a:t>
            </a:r>
          </a:p>
        </p:txBody>
      </p:sp>
      <p:sp>
        <p:nvSpPr>
          <p:cNvPr id="100038" name="TextBox 9"/>
          <p:cNvSpPr txBox="1"/>
          <p:nvPr/>
        </p:nvSpPr>
        <p:spPr>
          <a:xfrm xmlns:a="http://schemas.openxmlformats.org/drawingml/2006/main">
            <a:off x="360000" y="3312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C06  Execute and Analyse Marketing Campaigns</a:t>
            </a:r>
          </a:p>
        </p:txBody>
      </p:sp>
      <p:sp>
        <p:nvSpPr>
          <p:cNvPr id="100039" name="TextBox 10"/>
          <p:cNvSpPr txBox="1"/>
          <p:nvPr/>
        </p:nvSpPr>
        <p:spPr>
          <a:xfrm xmlns:a="http://schemas.openxmlformats.org/drawingml/2006/main">
            <a:off x="360000" y="367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C07  Implement AI Customer Engagement Strategy</a:t>
            </a:r>
          </a:p>
        </p:txBody>
      </p:sp>
      <p:sp>
        <p:nvSpPr>
          <p:cNvPr id="100040" name="TextBox 11"/>
          <p:cNvSpPr txBox="1"/>
          <p:nvPr/>
        </p:nvSpPr>
        <p:spPr>
          <a:xfrm xmlns:a="http://schemas.openxmlformats.org/drawingml/2006/main">
            <a:off x="6480000" y="1188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E44AD"/>
                </a:solidFill>
              </a:rPr>
              <a:t>ELECTIVE UNITS</a:t>
            </a:r>
          </a:p>
        </p:txBody>
      </p:sp>
      <p:sp>
        <p:nvSpPr>
          <p:cNvPr id="100041" name="TextBox 12"/>
          <p:cNvSpPr txBox="1"/>
          <p:nvPr/>
        </p:nvSpPr>
        <p:spPr>
          <a:xfrm xmlns:a="http://schemas.openxmlformats.org/drawingml/2006/main">
            <a:off x="6480000" y="1512000"/>
            <a:ext cx="50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E01  Automate Marketing Workflows with AI</a:t>
            </a:r>
          </a:p>
        </p:txBody>
      </p:sp>
      <p:sp>
        <p:nvSpPr>
          <p:cNvPr id="100042" name="TextBox 13"/>
          <p:cNvSpPr txBox="1"/>
          <p:nvPr/>
        </p:nvSpPr>
        <p:spPr>
          <a:xfrm xmlns:a="http://schemas.openxmlformats.org/drawingml/2006/main">
            <a:off x="6480000" y="1872000"/>
            <a:ext cx="50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E02  Optimise Content for AI Search (GEO/SEO)</a:t>
            </a:r>
          </a:p>
        </p:txBody>
      </p:sp>
      <p:sp>
        <p:nvSpPr>
          <p:cNvPr id="100043" name="TextBox 14"/>
          <p:cNvSpPr txBox="1"/>
          <p:nvPr/>
        </p:nvSpPr>
        <p:spPr>
          <a:xfrm xmlns:a="http://schemas.openxmlformats.org/drawingml/2006/main">
            <a:off x="6480000" y="288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55555"/>
                </a:solidFill>
              </a:rPr>
              <a:t>Total: 180 hrs Theory + 420 hrs Practical</a:t>
            </a:r>
          </a:p>
        </p:txBody>
      </p:sp>
      <p:sp>
        <p:nvSpPr>
          <p:cNvPr id="100121" name="TextBox 15"/>
          <p:cNvSpPr txBox="1"/>
          <p:nvPr/>
        </p:nvSpPr>
        <p:spPr>
          <a:xfrm>
            <a:off x="5868000" y="1512000"/>
            <a:ext cx="288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22" name="TextBox 16"/>
          <p:cNvSpPr txBox="1"/>
          <p:nvPr/>
        </p:nvSpPr>
        <p:spPr>
          <a:xfrm>
            <a:off x="5868000" y="1872000"/>
            <a:ext cx="288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23" name="TextBox 17"/>
          <p:cNvSpPr txBox="1"/>
          <p:nvPr/>
        </p:nvSpPr>
        <p:spPr>
          <a:xfrm>
            <a:off x="5868000" y="2232000"/>
            <a:ext cx="288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24" name="TextBox 18"/>
          <p:cNvSpPr txBox="1"/>
          <p:nvPr/>
        </p:nvSpPr>
        <p:spPr>
          <a:xfrm>
            <a:off x="5868000" y="2592000"/>
            <a:ext cx="288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25" name="TextBox 19"/>
          <p:cNvSpPr txBox="1"/>
          <p:nvPr/>
        </p:nvSpPr>
        <p:spPr>
          <a:xfrm>
            <a:off x="5868000" y="2952000"/>
            <a:ext cx="288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26" name="TextBox 20"/>
          <p:cNvSpPr txBox="1"/>
          <p:nvPr/>
        </p:nvSpPr>
        <p:spPr>
          <a:xfrm>
            <a:off x="5868000" y="3312000"/>
            <a:ext cx="288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27" name="TextBox 21"/>
          <p:cNvSpPr txBox="1"/>
          <p:nvPr/>
        </p:nvSpPr>
        <p:spPr>
          <a:xfrm>
            <a:off x="5868000" y="3672000"/>
            <a:ext cx="288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27AE60"/>
                </a:solidFill>
              </a:rPr>
              <a:t>✓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44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AI Tools You Will Master</a:t>
            </a:r>
          </a:p>
        </p:txBody>
      </p:sp>
      <p:sp>
        <p:nvSpPr>
          <p:cNvPr id="100045" name="TextBox 2"/>
          <p:cNvSpPr txBox="1"/>
          <p:nvPr/>
        </p:nvSpPr>
        <p:spPr>
          <a:xfrm xmlns:a="http://schemas.openxmlformats.org/drawingml/2006/main">
            <a:off x="360000" y="126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Written Content</a:t>
            </a:r>
          </a:p>
        </p:txBody>
      </p:sp>
      <p:sp>
        <p:nvSpPr>
          <p:cNvPr id="100046" name="TextBox 3"/>
          <p:cNvSpPr txBox="1"/>
          <p:nvPr/>
        </p:nvSpPr>
        <p:spPr>
          <a:xfrm xmlns:a="http://schemas.openxmlformats.org/drawingml/2006/main">
            <a:off x="360000" y="165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ChatGPT  Claude  Gemini  Copy.ai  Multilingual prompts</a:t>
            </a:r>
          </a:p>
        </p:txBody>
      </p:sp>
      <p:sp>
        <p:nvSpPr>
          <p:cNvPr id="100047" name="TextBox 4"/>
          <p:cNvSpPr txBox="1"/>
          <p:nvPr/>
        </p:nvSpPr>
        <p:spPr>
          <a:xfrm xmlns:a="http://schemas.openxmlformats.org/drawingml/2006/main">
            <a:off x="4140000" y="126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Image &amp; Design</a:t>
            </a:r>
          </a:p>
        </p:txBody>
      </p:sp>
      <p:sp>
        <p:nvSpPr>
          <p:cNvPr id="100048" name="TextBox 5"/>
          <p:cNvSpPr txBox="1"/>
          <p:nvPr/>
        </p:nvSpPr>
        <p:spPr>
          <a:xfrm xmlns:a="http://schemas.openxmlformats.org/drawingml/2006/main">
            <a:off x="4140000" y="165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Lovart AI  Midjourney  Canva AI  DALL-E  Magic Eraser</a:t>
            </a:r>
          </a:p>
        </p:txBody>
      </p:sp>
      <p:sp>
        <p:nvSpPr>
          <p:cNvPr id="100049" name="TextBox 6"/>
          <p:cNvSpPr txBox="1"/>
          <p:nvPr/>
        </p:nvSpPr>
        <p:spPr>
          <a:xfrm xmlns:a="http://schemas.openxmlformats.org/drawingml/2006/main">
            <a:off x="7920000" y="126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Video &amp; Audio</a:t>
            </a:r>
          </a:p>
        </p:txBody>
      </p:sp>
      <p:sp>
        <p:nvSpPr>
          <p:cNvPr id="100050" name="TextBox 7"/>
          <p:cNvSpPr txBox="1"/>
          <p:nvPr/>
        </p:nvSpPr>
        <p:spPr>
          <a:xfrm xmlns:a="http://schemas.openxmlformats.org/drawingml/2006/main">
            <a:off x="7920000" y="165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CapCut AI  Runway  HeyGen  ElevenLabs  Suno AI</a:t>
            </a:r>
          </a:p>
        </p:txBody>
      </p:sp>
      <p:sp>
        <p:nvSpPr>
          <p:cNvPr id="100051" name="TextBox 8"/>
          <p:cNvSpPr txBox="1"/>
          <p:nvPr/>
        </p:nvSpPr>
        <p:spPr>
          <a:xfrm xmlns:a="http://schemas.openxmlformats.org/drawingml/2006/main">
            <a:off x="360000" y="324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Social Media &amp; Ads</a:t>
            </a:r>
          </a:p>
        </p:txBody>
      </p:sp>
      <p:sp>
        <p:nvSpPr>
          <p:cNvPr id="100052" name="TextBox 9"/>
          <p:cNvSpPr txBox="1"/>
          <p:nvPr/>
        </p:nvSpPr>
        <p:spPr>
          <a:xfrm xmlns:a="http://schemas.openxmlformats.org/drawingml/2006/main">
            <a:off x="360000" y="363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Facebook Ads  TikTok Ads  Meta AI  Instagram  Analytics</a:t>
            </a:r>
          </a:p>
        </p:txBody>
      </p:sp>
      <p:sp>
        <p:nvSpPr>
          <p:cNvPr id="100053" name="TextBox 10"/>
          <p:cNvSpPr txBox="1"/>
          <p:nvPr/>
        </p:nvSpPr>
        <p:spPr>
          <a:xfrm xmlns:a="http://schemas.openxmlformats.org/drawingml/2006/main">
            <a:off x="4140000" y="324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Website &amp; SEO/GEO</a:t>
            </a:r>
          </a:p>
        </p:txBody>
      </p:sp>
      <p:sp>
        <p:nvSpPr>
          <p:cNvPr id="100054" name="TextBox 11"/>
          <p:cNvSpPr txBox="1"/>
          <p:nvPr/>
        </p:nvSpPr>
        <p:spPr>
          <a:xfrm xmlns:a="http://schemas.openxmlformats.org/drawingml/2006/main">
            <a:off x="4140000" y="363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Framer  WordPress AI  GEO Optimisation  Google Search Console</a:t>
            </a:r>
          </a:p>
        </p:txBody>
      </p:sp>
      <p:sp>
        <p:nvSpPr>
          <p:cNvPr id="100055" name="TextBox 12"/>
          <p:cNvSpPr txBox="1"/>
          <p:nvPr/>
        </p:nvSpPr>
        <p:spPr>
          <a:xfrm xmlns:a="http://schemas.openxmlformats.org/drawingml/2006/main">
            <a:off x="7920000" y="324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Automation</a:t>
            </a:r>
          </a:p>
        </p:txBody>
      </p:sp>
      <p:sp>
        <p:nvSpPr>
          <p:cNvPr id="100056" name="TextBox 13"/>
          <p:cNvSpPr txBox="1"/>
          <p:nvPr/>
        </p:nvSpPr>
        <p:spPr>
          <a:xfrm xmlns:a="http://schemas.openxmlformats.org/drawingml/2006/main">
            <a:off x="7920000" y="363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n8n  Zapier  Make  WhatsApp Chatbot  Scheduled Publishing</a:t>
            </a:r>
          </a:p>
        </p:txBody>
      </p:sp>
      <p:sp>
        <p:nvSpPr>
          <p:cNvPr id="100128" name="TextBox 14"/>
          <p:cNvSpPr txBox="1"/>
          <p:nvPr/>
        </p:nvSpPr>
        <p:spPr>
          <a:xfrm>
            <a:off x="360000" y="1008000"/>
            <a:ext cx="540000" cy="54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0129" name="TextBox 15"/>
          <p:cNvSpPr txBox="1"/>
          <p:nvPr/>
        </p:nvSpPr>
        <p:spPr>
          <a:xfrm>
            <a:off x="4140000" y="1008000"/>
            <a:ext cx="540000" cy="54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IMG</a:t>
            </a:r>
          </a:p>
        </p:txBody>
      </p:sp>
      <p:sp>
        <p:nvSpPr>
          <p:cNvPr id="100130" name="TextBox 16"/>
          <p:cNvSpPr txBox="1"/>
          <p:nvPr/>
        </p:nvSpPr>
        <p:spPr>
          <a:xfrm>
            <a:off x="7920000" y="1008000"/>
            <a:ext cx="540000" cy="54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VID</a:t>
            </a:r>
          </a:p>
        </p:txBody>
      </p:sp>
      <p:sp>
        <p:nvSpPr>
          <p:cNvPr id="100131" name="TextBox 17"/>
          <p:cNvSpPr txBox="1"/>
          <p:nvPr/>
        </p:nvSpPr>
        <p:spPr>
          <a:xfrm>
            <a:off x="360000" y="2952000"/>
            <a:ext cx="540000" cy="54000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ADS</a:t>
            </a:r>
          </a:p>
        </p:txBody>
      </p:sp>
      <p:sp>
        <p:nvSpPr>
          <p:cNvPr id="100132" name="TextBox 18"/>
          <p:cNvSpPr txBox="1"/>
          <p:nvPr/>
        </p:nvSpPr>
        <p:spPr>
          <a:xfrm>
            <a:off x="4140000" y="2952000"/>
            <a:ext cx="540000" cy="54000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SEO</a:t>
            </a:r>
          </a:p>
        </p:txBody>
      </p:sp>
      <p:sp>
        <p:nvSpPr>
          <p:cNvPr id="100133" name="TextBox 19"/>
          <p:cNvSpPr txBox="1"/>
          <p:nvPr/>
        </p:nvSpPr>
        <p:spPr>
          <a:xfrm>
            <a:off x="7920000" y="2952000"/>
            <a:ext cx="540000" cy="54000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AUTO</a:t>
            </a:r>
          </a:p>
        </p:txBody>
      </p:sp>
    </p:spTree>
  </p:cSld>
</p:sld>
</file>

<file path=ppt/slides/slide7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57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E3A5F"/>
                </a:solidFill>
              </a:rPr>
              <a:t>Real-World Case Studies from the Lead Trainer</a:t>
            </a:r>
          </a:p>
        </p:txBody>
      </p:sp>
      <p:sp>
        <p:nvSpPr>
          <p:cNvPr id="100058" name="TextBox 2"/>
          <p:cNvSpPr txBox="1"/>
          <p:nvPr/>
        </p:nvSpPr>
        <p:spPr>
          <a:xfrm xmlns:a="http://schemas.openxmlformats.org/drawingml/2006/main">
            <a:off x="540000" y="972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59" name="TextBox 3"/>
          <p:cNvSpPr txBox="1"/>
          <p:nvPr/>
        </p:nvSpPr>
        <p:spPr>
          <a:xfrm xmlns:a="http://schemas.openxmlformats.org/drawingml/2006/main">
            <a:off x="360000" y="1188000"/>
            <a:ext cx="54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Makan Moments Cafe — Skudai, Johor</a:t>
            </a:r>
          </a:p>
        </p:txBody>
      </p:sp>
      <p:sp>
        <p:nvSpPr>
          <p:cNvPr id="100060" name="TextBox 4"/>
          <p:cNvSpPr txBox="1"/>
          <p:nvPr/>
        </p:nvSpPr>
        <p:spPr>
          <a:xfrm xmlns:a="http://schemas.openxmlformats.org/drawingml/2006/main">
            <a:off x="360000" y="162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AI reviews in 7 personas (EN/BM/ZH) for Facebook, TikTok, RedNote, Instagram</a:t>
            </a:r>
          </a:p>
        </p:txBody>
      </p:sp>
      <p:sp>
        <p:nvSpPr>
          <p:cNvPr id="100061" name="TextBox 5"/>
          <p:cNvSpPr txBox="1"/>
          <p:nvPr/>
        </p:nvSpPr>
        <p:spPr>
          <a:xfrm xmlns:a="http://schemas.openxmlformats.org/drawingml/2006/main">
            <a:off x="360000" y="2016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Full 33-page menu designed with Lovart AI + Canva Pro (SOP documented)</a:t>
            </a:r>
          </a:p>
        </p:txBody>
      </p:sp>
      <p:sp>
        <p:nvSpPr>
          <p:cNvPr id="100062" name="TextBox 6"/>
          <p:cNvSpPr txBox="1"/>
          <p:nvPr/>
        </p:nvSpPr>
        <p:spPr>
          <a:xfrm xmlns:a="http://schemas.openxmlformats.org/drawingml/2006/main">
            <a:off x="360000" y="2412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Weekly social media content using a 10-category AI prompt library</a:t>
            </a:r>
          </a:p>
        </p:txBody>
      </p:sp>
      <p:sp>
        <p:nvSpPr>
          <p:cNvPr id="100063" name="TextBox 7"/>
          <p:cNvSpPr txBox="1"/>
          <p:nvPr/>
        </p:nvSpPr>
        <p:spPr>
          <a:xfrm xmlns:a="http://schemas.openxmlformats.org/drawingml/2006/main">
            <a:off x="360000" y="2808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Digital QR menu system with AI-designed pages and POS verification</a:t>
            </a:r>
          </a:p>
        </p:txBody>
      </p:sp>
      <p:sp>
        <p:nvSpPr>
          <p:cNvPr id="100064" name="TextBox 8"/>
          <p:cNvSpPr txBox="1"/>
          <p:nvPr/>
        </p:nvSpPr>
        <p:spPr>
          <a:xfrm xmlns:a="http://schemas.openxmlformats.org/drawingml/2006/main">
            <a:off x="5940000" y="1188000"/>
            <a:ext cx="54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Southern Homestay — KSL D'Esplanade, JB</a:t>
            </a:r>
          </a:p>
        </p:txBody>
      </p:sp>
      <p:sp>
        <p:nvSpPr>
          <p:cNvPr id="100065" name="TextBox 9"/>
          <p:cNvSpPr txBox="1"/>
          <p:nvPr/>
        </p:nvSpPr>
        <p:spPr>
          <a:xfrm xmlns:a="http://schemas.openxmlformats.org/drawingml/2006/main">
            <a:off x="5940000" y="162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AI-generated SEO/GEO blog articles ranking on Google and AI platforms</a:t>
            </a:r>
          </a:p>
        </p:txBody>
      </p:sp>
      <p:sp>
        <p:nvSpPr>
          <p:cNvPr id="100066" name="TextBox 10"/>
          <p:cNvSpPr txBox="1"/>
          <p:nvPr/>
        </p:nvSpPr>
        <p:spPr>
          <a:xfrm xmlns:a="http://schemas.openxmlformats.org/drawingml/2006/main">
            <a:off x="5940000" y="2016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Schema markup (JSON-LD) for AI-cited search visibility (GEO)</a:t>
            </a:r>
          </a:p>
        </p:txBody>
      </p:sp>
      <p:sp>
        <p:nvSpPr>
          <p:cNvPr id="100067" name="TextBox 11"/>
          <p:cNvSpPr txBox="1"/>
          <p:nvPr/>
        </p:nvSpPr>
        <p:spPr>
          <a:xfrm xmlns:a="http://schemas.openxmlformats.org/drawingml/2006/main">
            <a:off x="5940000" y="2412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Multi-language content (EN/BM/ZH) deployed across OTA platforms</a:t>
            </a:r>
          </a:p>
        </p:txBody>
      </p:sp>
      <p:sp>
        <p:nvSpPr>
          <p:cNvPr id="100068" name="TextBox 12"/>
          <p:cNvSpPr txBox="1"/>
          <p:nvPr/>
        </p:nvSpPr>
        <p:spPr>
          <a:xfrm xmlns:a="http://schemas.openxmlformats.org/drawingml/2006/main">
            <a:off x="5940000" y="2808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AI campaign analysis, dynamic pricing &amp; OTA strategy</a:t>
            </a:r>
          </a:p>
        </p:txBody>
      </p:sp>
      <p:pic>
        <p:nvPicPr>
          <p:cNvPr id="100110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ee36a251ff4c4886"/>
          <a:stretch>
            <a:fillRect/>
          </a:stretch>
        </p:blipFill>
        <p:spPr>
          <a:xfrm>
            <a:off x="360000" y="3420000"/>
            <a:ext cx="2340000" cy="1800000"/>
          </a:xfrm>
          <a:prstGeom prst="rect">
            <a:avLst/>
          </a:prstGeom>
        </p:spPr>
      </p:pic>
      <p:pic>
        <p:nvPicPr>
          <p:cNvPr id="100111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ae4ee304787049bd"/>
          <a:stretch>
            <a:fillRect/>
          </a:stretch>
        </p:blipFill>
        <p:spPr>
          <a:xfrm>
            <a:off x="2952000" y="3420000"/>
            <a:ext cx="2340000" cy="1800000"/>
          </a:xfrm>
          <a:prstGeom prst="rect">
            <a:avLst/>
          </a:prstGeom>
        </p:spPr>
      </p:pic>
      <p:pic>
        <p:nvPicPr>
          <p:cNvPr id="100112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aabc80e0863e4b0d"/>
          <a:stretch>
            <a:fillRect/>
          </a:stretch>
        </p:blipFill>
        <p:spPr>
          <a:xfrm>
            <a:off x="5940000" y="3420000"/>
            <a:ext cx="2160000" cy="1800000"/>
          </a:xfrm>
          <a:prstGeom prst="rect">
            <a:avLst/>
          </a:prstGeom>
        </p:spPr>
      </p:pic>
      <p:pic>
        <p:nvPicPr>
          <p:cNvPr id="10011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dfc5128eba364774"/>
          <a:stretch>
            <a:fillRect/>
          </a:stretch>
        </p:blipFill>
        <p:spPr>
          <a:xfrm>
            <a:off x="8460000" y="3420000"/>
            <a:ext cx="2160000" cy="1800000"/>
          </a:xfrm>
          <a:prstGeom prst="rect">
            <a:avLst/>
          </a:prstGeom>
        </p:spPr>
      </p:pic>
      <p:sp>
        <p:nvSpPr>
          <p:cNvPr id="100114" name="TextBox 13"/>
          <p:cNvSpPr txBox="1"/>
          <p:nvPr/>
        </p:nvSpPr>
        <p:spPr>
          <a:xfrm>
            <a:off x="5940000" y="2880000"/>
            <a:ext cx="4320000" cy="432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pPr algn="ctr"/>
            <a:r>
              <a:rPr lang="en-US" sz="1600" b="1">
                <a:solidFill>
                  <a:srgbClr val="1E3A5F"/>
                </a:solidFill>
              </a:rPr>
              <a:t>4.9 STARS / 5  |  500+ Reviews</a:t>
            </a:r>
          </a:p>
        </p:txBody>
      </p:sp>
      <p:sp>
        <p:nvSpPr>
          <p:cNvPr id="100115" name="TextBox 14"/>
          <p:cNvSpPr txBox="1"/>
          <p:nvPr/>
        </p:nvSpPr>
        <p:spPr>
          <a:xfrm>
            <a:off x="5940000" y="5472000"/>
            <a:ext cx="504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100">
                <a:solidFill>
                  <a:srgbClr val="2980B9"/>
                </a:solidFill>
              </a:rPr>
              <a:t>southern-homestay.com   |   pelangicapsulehostel.com</a:t>
            </a:r>
          </a:p>
        </p:txBody>
      </p:sp>
      <p:sp>
        <p:nvSpPr>
          <p:cNvPr id="100116" name="TextBox 15"/>
          <p:cNvSpPr txBox="1"/>
          <p:nvPr/>
        </p:nvSpPr>
        <p:spPr>
          <a:xfrm>
            <a:off x="360000" y="5472000"/>
            <a:ext cx="468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100">
                <a:solidFill>
                  <a:srgbClr val="2980B9"/>
                </a:solidFill>
              </a:rPr>
              <a:t>Cafe — AI-generated menu + content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69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Revenue Opportunity</a:t>
            </a:r>
          </a:p>
        </p:txBody>
      </p:sp>
      <p:sp>
        <p:nvSpPr>
          <p:cNvPr id="100070" name="TextBox 2"/>
          <p:cNvSpPr txBox="1"/>
          <p:nvPr/>
        </p:nvSpPr>
        <p:spPr>
          <a:xfrm xmlns:a="http://schemas.openxmlformats.org/drawingml/2006/main">
            <a:off x="360000" y="1260000"/>
            <a:ext cx="34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ACCDD"/>
                </a:solidFill>
              </a:rPr>
              <a:t>Per Student</a:t>
            </a:r>
          </a:p>
        </p:txBody>
      </p:sp>
      <p:sp>
        <p:nvSpPr>
          <p:cNvPr id="100071" name="TextBox 3"/>
          <p:cNvSpPr txBox="1"/>
          <p:nvPr/>
        </p:nvSpPr>
        <p:spPr>
          <a:xfrm xmlns:a="http://schemas.openxmlformats.org/drawingml/2006/main">
            <a:off x="360000" y="1728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400" b="1">
                <a:solidFill>
                  <a:srgbClr val="F5A623"/>
                </a:solidFill>
              </a:rPr>
              <a:t>RM 8,000</a:t>
            </a:r>
          </a:p>
        </p:txBody>
      </p:sp>
      <p:sp>
        <p:nvSpPr>
          <p:cNvPr id="100072" name="TextBox 4"/>
          <p:cNvSpPr txBox="1"/>
          <p:nvPr/>
        </p:nvSpPr>
        <p:spPr>
          <a:xfrm xmlns:a="http://schemas.openxmlformats.org/drawingml/2006/main">
            <a:off x="4320000" y="1260000"/>
            <a:ext cx="34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ACCDD"/>
                </a:solidFill>
              </a:rPr>
              <a:t>Per Batch (20 pax)</a:t>
            </a:r>
          </a:p>
        </p:txBody>
      </p:sp>
      <p:sp>
        <p:nvSpPr>
          <p:cNvPr id="100073" name="TextBox 5"/>
          <p:cNvSpPr txBox="1"/>
          <p:nvPr/>
        </p:nvSpPr>
        <p:spPr>
          <a:xfrm xmlns:a="http://schemas.openxmlformats.org/drawingml/2006/main">
            <a:off x="4320000" y="1728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F5A623"/>
                </a:solidFill>
              </a:rPr>
              <a:t>RM 160,000</a:t>
            </a:r>
          </a:p>
        </p:txBody>
      </p:sp>
      <p:sp>
        <p:nvSpPr>
          <p:cNvPr id="100074" name="TextBox 6"/>
          <p:cNvSpPr txBox="1"/>
          <p:nvPr/>
        </p:nvSpPr>
        <p:spPr>
          <a:xfrm xmlns:a="http://schemas.openxmlformats.org/drawingml/2006/main">
            <a:off x="8280000" y="126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ACCDD"/>
                </a:solidFill>
              </a:rPr>
              <a:t>4 Batches / Year</a:t>
            </a:r>
          </a:p>
        </p:txBody>
      </p:sp>
      <p:sp>
        <p:nvSpPr>
          <p:cNvPr id="100075" name="TextBox 7"/>
          <p:cNvSpPr txBox="1"/>
          <p:nvPr/>
        </p:nvSpPr>
        <p:spPr>
          <a:xfrm xmlns:a="http://schemas.openxmlformats.org/drawingml/2006/main">
            <a:off x="8280000" y="1728000"/>
            <a:ext cx="32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F5A623"/>
                </a:solidFill>
              </a:rPr>
              <a:t>RM 640,000</a:t>
            </a:r>
          </a:p>
        </p:txBody>
      </p:sp>
      <p:sp>
        <p:nvSpPr>
          <p:cNvPr id="100076" name="TextBox 8"/>
          <p:cNvSpPr txBox="1"/>
          <p:nvPr/>
        </p:nvSpPr>
        <p:spPr>
          <a:xfrm xmlns:a="http://schemas.openxmlformats.org/drawingml/2006/main">
            <a:off x="360000" y="3060000"/>
            <a:ext cx="1116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77" name="TextBox 9"/>
          <p:cNvSpPr txBox="1"/>
          <p:nvPr/>
        </p:nvSpPr>
        <p:spPr>
          <a:xfrm xmlns:a="http://schemas.openxmlformats.org/drawingml/2006/main">
            <a:off x="540000" y="324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5A623"/>
                </a:solidFill>
              </a:rPr>
              <a:t>B2B In-House Training (e.g. Fitson, Manufacturing SMEs)</a:t>
            </a:r>
          </a:p>
        </p:txBody>
      </p:sp>
      <p:sp>
        <p:nvSpPr>
          <p:cNvPr id="100078" name="TextBox 10"/>
          <p:cNvSpPr txBox="1"/>
          <p:nvPr/>
        </p:nvSpPr>
        <p:spPr>
          <a:xfrm xmlns:a="http://schemas.openxmlformats.org/drawingml/2006/main">
            <a:off x="540000" y="36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DEEEE"/>
                </a:solidFill>
              </a:rPr>
              <a:t>RM 4,500 per session (up to 15 pax)  |  Min. 2 sessions per company per year</a:t>
            </a:r>
          </a:p>
        </p:txBody>
      </p:sp>
      <p:sp>
        <p:nvSpPr>
          <p:cNvPr id="100079" name="TextBox 11"/>
          <p:cNvSpPr txBox="1"/>
          <p:nvPr/>
        </p:nvSpPr>
        <p:spPr>
          <a:xfrm xmlns:a="http://schemas.openxmlformats.org/drawingml/2006/main">
            <a:off x="540000" y="4104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DEEEE"/>
                </a:solidFill>
              </a:rPr>
              <a:t>HRDC / PSMB claimable — reduces effective cost to near zero for employers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8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Why 3U Pioneer Academy?</a:t>
            </a:r>
          </a:p>
        </p:txBody>
      </p:sp>
      <p:sp>
        <p:nvSpPr>
          <p:cNvPr id="100081" name="TextBox 2"/>
          <p:cNvSpPr txBox="1"/>
          <p:nvPr/>
        </p:nvSpPr>
        <p:spPr>
          <a:xfrm xmlns:a="http://schemas.openxmlformats.org/drawingml/2006/main">
            <a:off x="540000" y="972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82" name="TextBox 3"/>
          <p:cNvSpPr txBox="1"/>
          <p:nvPr/>
        </p:nvSpPr>
        <p:spPr>
          <a:xfrm xmlns:a="http://schemas.openxmlformats.org/drawingml/2006/main">
            <a:off x="360000" y="12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Proven Real-World Trainer</a:t>
            </a:r>
          </a:p>
        </p:txBody>
      </p:sp>
      <p:sp>
        <p:nvSpPr>
          <p:cNvPr id="100083" name="TextBox 4"/>
          <p:cNvSpPr txBox="1"/>
          <p:nvPr/>
        </p:nvSpPr>
        <p:spPr>
          <a:xfrm xmlns:a="http://schemas.openxmlformats.org/drawingml/2006/main">
            <a:off x="360000" y="16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The trainer applies every course tool daily across multiple live businesses. Students learn from real case studies.</a:t>
            </a:r>
          </a:p>
        </p:txBody>
      </p:sp>
      <p:sp>
        <p:nvSpPr>
          <p:cNvPr id="100084" name="TextBox 5"/>
          <p:cNvSpPr txBox="1"/>
          <p:nvPr/>
        </p:nvSpPr>
        <p:spPr>
          <a:xfrm xmlns:a="http://schemas.openxmlformats.org/drawingml/2006/main">
            <a:off x="5940000" y="12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Built-In Student Pipeline</a:t>
            </a:r>
          </a:p>
        </p:txBody>
      </p:sp>
      <p:sp>
        <p:nvSpPr>
          <p:cNvPr id="100085" name="TextBox 6"/>
          <p:cNvSpPr txBox="1"/>
          <p:nvPr/>
        </p:nvSpPr>
        <p:spPr>
          <a:xfrm xmlns:a="http://schemas.openxmlformats.org/drawingml/2006/main">
            <a:off x="5940000" y="16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3U's existing IT, Aesthetic &amp; Multimedia students are natural recruits. No cold marketing needed to fill first batch.</a:t>
            </a:r>
          </a:p>
        </p:txBody>
      </p:sp>
      <p:sp>
        <p:nvSpPr>
          <p:cNvPr id="100086" name="TextBox 7"/>
          <p:cNvSpPr txBox="1"/>
          <p:nvPr/>
        </p:nvSpPr>
        <p:spPr>
          <a:xfrm xmlns:a="http://schemas.openxmlformats.org/drawingml/2006/main">
            <a:off x="360000" y="30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JPK Accreditation Track Record</a:t>
            </a:r>
          </a:p>
        </p:txBody>
      </p:sp>
      <p:sp>
        <p:nvSpPr>
          <p:cNvPr id="100087" name="TextBox 8"/>
          <p:cNvSpPr txBox="1"/>
          <p:nvPr/>
        </p:nvSpPr>
        <p:spPr>
          <a:xfrm xmlns:a="http://schemas.openxmlformats.org/drawingml/2006/main">
            <a:off x="360000" y="34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3U is already accrediting 5 programmes. Adding 1 more reuses the same JPK contacts and workflow.</a:t>
            </a:r>
          </a:p>
        </p:txBody>
      </p:sp>
      <p:sp>
        <p:nvSpPr>
          <p:cNvPr id="100088" name="TextBox 9"/>
          <p:cNvSpPr txBox="1"/>
          <p:nvPr/>
        </p:nvSpPr>
        <p:spPr>
          <a:xfrm xmlns:a="http://schemas.openxmlformats.org/drawingml/2006/main">
            <a:off x="5940000" y="30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AI-Ready WIM Pipeline</a:t>
            </a:r>
          </a:p>
        </p:txBody>
      </p:sp>
      <p:sp>
        <p:nvSpPr>
          <p:cNvPr id="100089" name="TextBox 10"/>
          <p:cNvSpPr txBox="1"/>
          <p:nvPr/>
        </p:nvSpPr>
        <p:spPr>
          <a:xfrm xmlns:a="http://schemas.openxmlformats.org/drawingml/2006/main">
            <a:off x="5940000" y="34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All teaching materials (KP/KK/WIM) can be generated using 3U's existing AI pipeline.</a:t>
            </a:r>
          </a:p>
        </p:txBody>
      </p:sp>
      <p:sp>
        <p:nvSpPr>
          <p:cNvPr id="100134" name="TextBox 11"/>
          <p:cNvSpPr txBox="1"/>
          <p:nvPr/>
        </p:nvSpPr>
        <p:spPr>
          <a:xfrm>
            <a:off x="5220000" y="1260000"/>
            <a:ext cx="360000" cy="360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35" name="TextBox 12"/>
          <p:cNvSpPr txBox="1"/>
          <p:nvPr/>
        </p:nvSpPr>
        <p:spPr>
          <a:xfrm>
            <a:off x="10800000" y="1260000"/>
            <a:ext cx="360000" cy="360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36" name="TextBox 13"/>
          <p:cNvSpPr txBox="1"/>
          <p:nvPr/>
        </p:nvSpPr>
        <p:spPr>
          <a:xfrm>
            <a:off x="5220000" y="3060000"/>
            <a:ext cx="360000" cy="360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00137" name="TextBox 14"/>
          <p:cNvSpPr txBox="1"/>
          <p:nvPr/>
        </p:nvSpPr>
        <p:spPr>
          <a:xfrm>
            <a:off x="10800000" y="3060000"/>
            <a:ext cx="360000" cy="360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27AE60"/>
                </a:solidFill>
              </a:rPr>
              <a:t>✓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100091" name="TextBox 2"/>
          <p:cNvSpPr txBox="1"/>
          <p:nvPr/>
        </p:nvSpPr>
        <p:spPr>
          <a:xfrm xmlns:a="http://schemas.openxmlformats.org/drawingml/2006/main">
            <a:off x="3600000" y="1008000"/>
            <a:ext cx="468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92" name="TextBox 3"/>
          <p:cNvSpPr txBox="1"/>
          <p:nvPr/>
        </p:nvSpPr>
        <p:spPr>
          <a:xfrm xmlns:a="http://schemas.openxmlformats.org/drawingml/2006/main">
            <a:off x="540000" y="13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1</a:t>
            </a:r>
          </a:p>
        </p:txBody>
      </p:sp>
      <p:sp>
        <p:nvSpPr>
          <p:cNvPr id="100093" name="TextBox 4"/>
          <p:cNvSpPr txBox="1"/>
          <p:nvPr/>
        </p:nvSpPr>
        <p:spPr>
          <a:xfrm xmlns:a="http://schemas.openxmlformats.org/drawingml/2006/main">
            <a:off x="1260000" y="140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Jennifer checks MySPIKE for existing NOSS code in Digital Marketing (J or K series)</a:t>
            </a:r>
          </a:p>
        </p:txBody>
      </p:sp>
      <p:sp>
        <p:nvSpPr>
          <p:cNvPr id="100094" name="TextBox 5"/>
          <p:cNvSpPr txBox="1"/>
          <p:nvPr/>
        </p:nvSpPr>
        <p:spPr>
          <a:xfrm xmlns:a="http://schemas.openxmlformats.org/drawingml/2006/main">
            <a:off x="540000" y="208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2</a:t>
            </a:r>
          </a:p>
        </p:txBody>
      </p:sp>
      <p:sp>
        <p:nvSpPr>
          <p:cNvPr id="100095" name="TextBox 6"/>
          <p:cNvSpPr txBox="1"/>
          <p:nvPr/>
        </p:nvSpPr>
        <p:spPr>
          <a:xfrm xmlns:a="http://schemas.openxmlformats.org/drawingml/2006/main">
            <a:off x="1260000" y="212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If no code exists — apply for COPTPA standard with Prisma Technology as Industry Body</a:t>
            </a:r>
          </a:p>
        </p:txBody>
      </p:sp>
      <p:sp>
        <p:nvSpPr>
          <p:cNvPr id="100096" name="TextBox 7"/>
          <p:cNvSpPr txBox="1"/>
          <p:nvPr/>
        </p:nvSpPr>
        <p:spPr>
          <a:xfrm xmlns:a="http://schemas.openxmlformats.org/drawingml/2006/main">
            <a:off x="540000" y="280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3</a:t>
            </a:r>
          </a:p>
        </p:txBody>
      </p:sp>
      <p:sp>
        <p:nvSpPr>
          <p:cNvPr id="100097" name="TextBox 8"/>
          <p:cNvSpPr txBox="1"/>
          <p:nvPr/>
        </p:nvSpPr>
        <p:spPr>
          <a:xfrm xmlns:a="http://schemas.openxmlformats.org/drawingml/2006/main">
            <a:off x="1260000" y="284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Jay drafts CoCU for all 9 CUs using existing Notion workflows and AI tools as reference</a:t>
            </a:r>
          </a:p>
        </p:txBody>
      </p:sp>
      <p:sp>
        <p:nvSpPr>
          <p:cNvPr id="100098" name="TextBox 9"/>
          <p:cNvSpPr txBox="1"/>
          <p:nvPr/>
        </p:nvSpPr>
        <p:spPr>
          <a:xfrm xmlns:a="http://schemas.openxmlformats.org/drawingml/2006/main">
            <a:off x="540000" y="352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4</a:t>
            </a:r>
          </a:p>
        </p:txBody>
      </p:sp>
      <p:sp>
        <p:nvSpPr>
          <p:cNvPr id="100099" name="TextBox 10"/>
          <p:cNvSpPr txBox="1"/>
          <p:nvPr/>
        </p:nvSpPr>
        <p:spPr>
          <a:xfrm xmlns:a="http://schemas.openxmlformats.org/drawingml/2006/main">
            <a:off x="1260000" y="356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Generate full WIM documents using the existing 3U AI pipeline — target Q4 2026</a:t>
            </a:r>
          </a:p>
        </p:txBody>
      </p:sp>
      <p:sp>
        <p:nvSpPr>
          <p:cNvPr id="100100" name="TextBox 11"/>
          <p:cNvSpPr txBox="1"/>
          <p:nvPr/>
        </p:nvSpPr>
        <p:spPr>
          <a:xfrm xmlns:a="http://schemas.openxmlformats.org/drawingml/2006/main">
            <a:off x="540000" y="424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5</a:t>
            </a:r>
          </a:p>
        </p:txBody>
      </p:sp>
      <p:sp>
        <p:nvSpPr>
          <p:cNvPr id="100101" name="TextBox 12"/>
          <p:cNvSpPr txBox="1"/>
          <p:nvPr/>
        </p:nvSpPr>
        <p:spPr>
          <a:xfrm xmlns:a="http://schemas.openxmlformats.org/drawingml/2006/main">
            <a:off x="1260000" y="428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Submit JPK accreditation — target first student batch Q1 2027</a:t>
            </a:r>
          </a:p>
        </p:txBody>
      </p:sp>
      <p:sp>
        <p:nvSpPr>
          <p:cNvPr id="100102" name="TextBox 13"/>
          <p:cNvSpPr txBox="1"/>
          <p:nvPr/>
        </p:nvSpPr>
        <p:spPr>
          <a:xfrm xmlns:a="http://schemas.openxmlformats.org/drawingml/2006/main">
            <a:off x="540000" y="576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5A623"/>
                </a:solidFill>
              </a:rPr>
              <a:t>3U Pioneer Academy   |   Course Enquiry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2026-07-19T08:41:47Z</dcterms:created>
  <cp:lastModifiedBy>OfficeCLI</cp:lastModifiedBy>
  <dcterms:modified xsi:type="dcterms:W3CDTF">2026-07-19T08:41:47Z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1.0.139</vt:lpwstr>
  </op:property>
  <op:property fmtid="{D5CDD505-2E9C-101B-9397-08002B2CF9AE}" pid="3" name="OfficeCLI.LastModified">
    <vt:lpwstr xmlns:vt="http://schemas.openxmlformats.org/officeDocument/2006/docPropsVTypes">2026-07-19T10:46:39Z</vt:lpwstr>
  </op:property>
</op:Properties>
</file>